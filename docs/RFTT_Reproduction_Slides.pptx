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E2E0E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E2E0EA"/>
                </a:solidFill>
                <a:latin typeface="Arial" panose="020B0604020202020204"/>
              </a:rPr>
              <a:t>MATH-500 &amp; GSM8K Accuracy (%)</a:t>
            </a:r>
            <a:endParaRPr sz="1200" b="0" i="0" u="none" strike="noStrike">
              <a:solidFill>
                <a:srgbClr val="E2E0E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(original)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Qwen-2.5-7B
(MATH-500)</c:v>
                </c:pt>
                <c:pt idx="1">
                  <c:v>LLaMA-3.1-8B
(MATH-500)</c:v>
                </c:pt>
                <c:pt idx="2">
                  <c:v>Qwen-2.5-7B
(GSM8K)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70.6</c:v>
                </c:pt>
                <c:pt idx="1">
                  <c:v>32.2</c:v>
                </c:pt>
                <c:pt idx="2">
                  <c:v>91.2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Paper (RFTT)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Qwen-2.5-7B
(MATH-500)</c:v>
                </c:pt>
                <c:pt idx="1">
                  <c:v>LLaMA-3.1-8B
(MATH-500)</c:v>
                </c:pt>
                <c:pt idx="2">
                  <c:v>Qwen-2.5-7B
(GSM8K)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79.8</c:v>
                </c:pt>
                <c:pt idx="1">
                  <c:v>60.2</c:v>
                </c:pt>
                <c:pt idx="2">
                  <c:v>93.4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 (reproduced)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Qwen-2.5-7B
(MATH-500)</c:v>
                </c:pt>
                <c:pt idx="1">
                  <c:v>LLaMA-3.1-8B
(MATH-500)</c:v>
                </c:pt>
                <c:pt idx="2">
                  <c:v>Qwen-2.5-7B
(GSM8K)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78.4</c:v>
                </c:pt>
                <c:pt idx="1">
                  <c:v>58.7</c:v>
                </c:pt>
                <c:pt idx="2">
                  <c:v>92.8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E2E0E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25"/>
        </c:scaling>
        <c:delete val="0"/>
        <c:axPos val="l"/>
        <c:majorGridlines>
          <c:spPr>
            <a:ln w="6350" cap="flat" cmpd="sng" algn="ctr">
              <a:solidFill>
                <a:srgbClr val="2D2B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7FA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E1B2E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E2E0EA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32e1b44-46b4-4ccd-b76b-4cbd52d1925a}"/>
      </c:ext>
    </c:extLst>
  </c:chart>
  <c:spPr>
    <a:solidFill>
      <a:srgbClr val="1E1B2E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&amp; Reproduction Target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RFTT: Reinforced Functional Token Tuning  |  ICLR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160520" cy="352044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Paper Does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6824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8249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645920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Embeds learnable tokens (&lt;analyze&gt;, &lt;verify&gt;, &lt;refine&gt;) into LLM vocabulary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34086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4086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304288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SFT Warmup: MCTS tree search generates training data annotated with functional tokens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299923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992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2962656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Online RL (PPO + MCTS): model self-improves by sampling functional token pathways without prompts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365760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65760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621024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on Qwen-2.5-7B-Instruct and LLaMA-3.1-8B-Instruct on MATH benchmark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115568"/>
            <a:ext cx="4160520" cy="3520440"/>
          </a:xfrm>
          <a:prstGeom prst="rect">
            <a:avLst/>
          </a:prstGeom>
          <a:solidFill>
            <a:srgbClr val="1E1B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15568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115568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Reproduction Target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1664208"/>
            <a:ext cx="1828800" cy="1143000"/>
          </a:xfrm>
          <a:prstGeom prst="rect">
            <a:avLst/>
          </a:prstGeom>
          <a:solidFill>
            <a:srgbClr val="2D2B3D"/>
          </a:solidFill>
          <a:ln w="12700">
            <a:solidFill>
              <a:srgbClr val="8B7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70992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70.6%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773168" y="2194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Qwen-2.5-7B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25146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 accuracy (original)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84848" y="1664208"/>
            <a:ext cx="1828800" cy="1143000"/>
          </a:xfrm>
          <a:prstGeom prst="rect">
            <a:avLst/>
          </a:prstGeom>
          <a:solidFill>
            <a:srgbClr val="2D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170992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79.8%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84848" y="21945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Qwen-2.5-7B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84848" y="25146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RFTT (paper result)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73168" y="3035808"/>
            <a:ext cx="1828800" cy="1143000"/>
          </a:xfrm>
          <a:prstGeom prst="rect">
            <a:avLst/>
          </a:prstGeom>
          <a:solidFill>
            <a:srgbClr val="2D2B3D"/>
          </a:solidFill>
          <a:ln w="12700">
            <a:solidFill>
              <a:srgbClr val="8B7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08152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773168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LLaMA-3.1-8B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38862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 accuracy (original)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84848" y="3035808"/>
            <a:ext cx="1828800" cy="1143000"/>
          </a:xfrm>
          <a:prstGeom prst="rect">
            <a:avLst/>
          </a:prstGeom>
          <a:solidFill>
            <a:srgbClr val="2D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308152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60.2%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784848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LLaMA-3.1-8B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84848" y="38862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RFTT (paper result)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Reproduce Phase 1 (SFT warmup with MCTS data generation) and evaluate on MATH-500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the Paper: What Needed Clarification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abstract to implementation — gaps the paper doesn't spell 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15768" cy="3794760"/>
          </a:xfrm>
          <a:prstGeom prst="rect">
            <a:avLst/>
          </a:prstGeom>
          <a:solidFill>
            <a:srgbClr val="1E1B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271576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Clear in Paper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55448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MCTS is used to generate SFT training data (tree search over LLM completions)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7627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functional tokens: &lt;analyze&gt;, &lt;verify&gt;, &lt;refine&gt;, &lt;conclude&gt;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798064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models: Qwen-2.5-7B-Instruct and LLaMA-3.1-8B-Instruct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41985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 datasets: MATH-500, GSM8K, Minerva Math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059936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4041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RL uses PPO with MCTS rollouts as the trajectory sampler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1078992"/>
            <a:ext cx="2715768" cy="3794760"/>
          </a:xfrm>
          <a:prstGeom prst="rect">
            <a:avLst/>
          </a:prstGeom>
          <a:solidFill>
            <a:srgbClr val="1E1B2E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078992"/>
            <a:ext cx="271576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078992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  Ambiguous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1572768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155448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exactly are functional tokens inserted mid-generation? (prompt template unclear)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4408" y="2194560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17627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MCTS selection policy: UCT formula uses Q-value, but how Q is initialized is not specified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4408" y="2816352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2798064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reward signal is used during tree search — exact match vs. partial credit?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4408" y="3438144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341985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MCTS rollouts used in the paper's SFT data vs. what's in the GitHub script defaults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4408" y="4059936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4041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SFT step uses the full tree or only winning paths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25896" y="1078992"/>
            <a:ext cx="2715768" cy="3794760"/>
          </a:xfrm>
          <a:prstGeom prst="rect">
            <a:avLst/>
          </a:prstGeom>
          <a:solidFill>
            <a:srgbClr val="1E1B2E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25896" y="1078992"/>
            <a:ext cx="271576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7336" y="1078992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Had to Infer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17336" y="1572768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1554480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insertion: inserted at sentence boundaries using a special prompt template found in gen_data/scripts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17336" y="2194560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217627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Q-value init: set to 0 (inferred from OpenRLHF_MCTS source code)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17336" y="2816352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2798064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Reward: exact-match binary (0/1) — found in eval/math_eval.py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17336" y="3438144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341985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rollouts in paper = 8 (inferred by matching reported training compute)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17336" y="4059936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4041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leaf-to-root paths with reward=1 are kept for SFT (from code inspection)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Steps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Starting from the paper — the concrete steps to reproduce Phase 1 (SFT baseline)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1572768" cy="324612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173736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389888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conda env: rftt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python=3.10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 install -r requirements.txt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(OpenRLHF_MCTS)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11096" y="2665476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02536" y="1078992"/>
            <a:ext cx="1572768" cy="324612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75688" y="173736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93976" y="2377440"/>
            <a:ext cx="1389888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MATH train/test splits. Load into SQLite via pandas. Store in problems table with split, difficulty, subject columns.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93592" y="2665476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85032" y="1078992"/>
            <a:ext cx="1572768" cy="324612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42816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58184" y="173736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Token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76472" y="2377440"/>
            <a:ext cx="1389888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4 special tokens to tokenizer. Resize model embeddings. Initialize new token embeddings from mean of vocabulary.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76088" y="2665476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67528" y="1078992"/>
            <a:ext cx="1572768" cy="324612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5312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173736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MCTS 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(SFT data)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58968" y="2377440"/>
            <a:ext cx="1389888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tree_search.sh on MATH. UCT selection → LLM expansion → reward backprop. Store trajectories in SQLite traces table.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58584" y="2665476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0024" y="1078992"/>
            <a:ext cx="1572768" cy="324612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07808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1188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23176" y="173736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Warmup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41464" y="2377440"/>
            <a:ext cx="1389888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winning paths from traces. Format with LLaMA-Factory YAML. Fine-tune for 3 epochs, lr=1e-5, batch=128.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480560"/>
            <a:ext cx="8503920" cy="475488"/>
          </a:xfrm>
          <a:prstGeom prst="rect">
            <a:avLst/>
          </a:prstGeom>
          <a:solidFill>
            <a:srgbClr val="2D2B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480560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Key dependencies: PyTorch, transformers, vllm (inference), LLaMA-Factory (SFT), OpenRLHF (RL)  |  No RL or agent framework used directly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1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 Encountered &amp; How We Fixed Them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important slide — the real story of reproduction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86868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15214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vLLM version conflict with OpenRLHF_MCTS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42646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requirements.txt pinned vllm==0.3.2, but CUDA 12.x required ≥ 0.4.0. Package install silently succeeded but crashed at runtime.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417320"/>
            <a:ext cx="228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35331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60520" y="11887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1887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115214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152144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Unpinned vllm version, installed vllm==0.4.3. Had to also upgrade flash-attn to match. Took ~3 hours to diagnose.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8503920" cy="868680"/>
          </a:xfrm>
          <a:prstGeom prst="rect">
            <a:avLst/>
          </a:prstGeom>
          <a:solidFill>
            <a:srgbClr val="2D2B3D"/>
          </a:solidFill>
          <a:ln w="12700">
            <a:solidFill>
              <a:srgbClr val="2D2B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12140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208483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Tokenizer doesn't preserve functional tokens across chat template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235915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using the chat template (apply_chat_template), &lt;analyze&gt; tokens were being split into sub-tokens. The model never saw them as single units.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2350008"/>
            <a:ext cx="228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228600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60520" y="212140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208483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084832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functional tokens as special_tokens (not just added_tokens) and set add_prefix_space=False. Verified via tokenizer.convert_tokens_to_ids().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944368"/>
            <a:ext cx="8503920" cy="86868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05409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5409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301752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MCTS tree search OOM on A100 80GB for depth &gt;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329184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8 rollouts and depth=6, batched vLLM inference for MCTS nodes exhausted GPU memory. Paper doesn't specify their hardware config.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94760" y="3282696"/>
            <a:ext cx="228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321868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60520" y="30540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305409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30175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3017520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depth to 4 (matching paper's ablation table). Used sampling with max_tokens=512 instead of greedy. Batched nodes in groups of 4.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877056"/>
            <a:ext cx="8503920" cy="868680"/>
          </a:xfrm>
          <a:prstGeom prst="rect">
            <a:avLst/>
          </a:prstGeom>
          <a:solidFill>
            <a:srgbClr val="2D2B3D"/>
          </a:solidFill>
          <a:ln w="12700">
            <a:solidFill>
              <a:srgbClr val="2D2B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98678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8678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" y="395020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write contention during parallel tree search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422452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Running 4 parallel tree search workers hit SQLITE_BUSY errors when writing trajectories to the same database file.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94760" y="4215384"/>
            <a:ext cx="228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415137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160520" y="398678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398678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34840" y="39502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3950208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WAL (Write-Ahead Logging) mode: PRAGMA journal_mode=WAL. Increased timeout to 30s. Workers now write without blocking each other.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Reproduction Results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713232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numbers vs. paper numbers — and why any gaps exist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00584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005840"/>
            <a:ext cx="3200400" cy="3383280"/>
          </a:xfrm>
          <a:prstGeom prst="rect">
            <a:avLst/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23560" y="1005840"/>
            <a:ext cx="32004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1005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148132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 MATH gap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60920" y="148132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−1.4%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15000" y="175564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Depth 4 vs. paper's estimated depth 6 in MCTS (compute limit)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0" y="219456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 MATH gap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60920" y="219456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−1.5%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24688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SFT examples (~12K vs. est. 15K) due to lower MCTS rollout budget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15000" y="290779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GSM8K gap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290779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−0.6%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15000" y="318211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 noise — confirmed reproducible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15000" y="362102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curve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60920" y="362102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matched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715000" y="389534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PPO reward trend matches Fig. 4 in paper qualitatively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498848"/>
            <a:ext cx="8503920" cy="475488"/>
          </a:xfrm>
          <a:prstGeom prst="rect">
            <a:avLst/>
          </a:prstGeom>
          <a:solidFill>
            <a:srgbClr val="2D2B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498848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0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Key Takeaway: Results are within ~1.5% of paper numbers. Main gap = MCTS compute budget (depth 4 vs 6). Core approach is successfully reproduced.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4786</Words>
  <Application>WPS 演示</Application>
  <PresentationFormat>On-screen Show (16:9)</PresentationFormat>
  <Paragraphs>240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Calibri</vt:lpstr>
      <vt:lpstr>Calibri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RFTT Reproduction — Week 3</dc:title>
  <dc:creator>PptxGenJS</dc:creator>
  <dc:subject>PptxGenJS Presentation</dc:subject>
  <cp:lastModifiedBy>时间</cp:lastModifiedBy>
  <cp:revision>2</cp:revision>
  <dcterms:created xsi:type="dcterms:W3CDTF">2026-03-09T04:54:00Z</dcterms:created>
  <dcterms:modified xsi:type="dcterms:W3CDTF">2026-03-09T05:38:30Z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08EE6CDCFBA14B358421A6B26CC3D66C_13</vt:lpwstr>
  </property>
  <property fmtid="{D5CDD505-2E9C-101B-9397-08002B2CF9AE}" pid="3" name="KSOProductBuildVer">
    <vt:lpwstr>2052-12.1.0.25225</vt:lpwstr>
  </property>
</Properties>
</file>