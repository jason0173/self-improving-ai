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E8F4F8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E8F4F8"/>
                </a:solidFill>
                <a:latin typeface="Arial" panose="020B0604020202020204"/>
              </a:rPr>
              <a:t>Avg. Discounted Value by Demand &amp; Time</a:t>
            </a:r>
            <a:endParaRPr sz="1300" b="0" i="0" u="none" strike="noStrike">
              <a:solidFill>
                <a:srgbClr val="E8F4F8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Off-Peak</c:v>
                </c:pt>
              </c:strCache>
            </c:strRef>
          </c:tx>
          <c:spPr>
            <a:solidFill>
              <a:srgbClr val="0EA5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Low
Demand</c:v>
                </c:pt>
                <c:pt idx="1">
                  <c:v>Medium
Demand</c:v>
                </c:pt>
                <c:pt idx="2">
                  <c:v>High
Demand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1129.27</c:v>
                </c:pt>
                <c:pt idx="1">
                  <c:v>1161.96</c:v>
                </c:pt>
                <c:pt idx="2">
                  <c:v>1205.41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Peak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Low
Demand</c:v>
                </c:pt>
                <c:pt idx="1">
                  <c:v>Medium
Demand</c:v>
                </c:pt>
                <c:pt idx="2">
                  <c:v>High
Demand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1112.92</c:v>
                </c:pt>
                <c:pt idx="1">
                  <c:v>1148.43</c:v>
                </c:pt>
                <c:pt idx="2">
                  <c:v>1195.29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E8F4F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050"/>
        </c:scaling>
        <c:delete val="0"/>
        <c:axPos val="l"/>
        <c:majorGridlines>
          <c:spPr>
            <a:ln w="10160" cap="flat" cmpd="sng" algn="ctr">
              <a:solidFill>
                <a:srgbClr val="1B2C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8FB3C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B2C41"/>
        </a:solidFill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rgbClr val="E8F4F8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674dd8e-b09d-42e3-a3a4-7eb741fa990f}"/>
      </c:ext>
    </c:extLst>
  </c:chart>
  <c:spPr>
    <a:solidFill>
      <a:srgbClr val="1B2C41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MDP Formulation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DD9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Ride-Sharing Matching &amp; Dynamic Pricing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8288"/>
          </a:xfrm>
          <a:prstGeom prst="rect">
            <a:avLst/>
          </a:prstGeom>
          <a:solidFill>
            <a:srgbClr val="1B2C41"/>
          </a:solidFill>
          <a:ln w="12700">
            <a:solidFill>
              <a:srgbClr val="1B2C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1965960" cy="3200400"/>
          </a:xfrm>
          <a:prstGeom prst="rect">
            <a:avLst/>
          </a:prstGeom>
          <a:solidFill>
            <a:srgbClr val="1B2C41"/>
          </a:solidFill>
          <a:ln w="19050">
            <a:solidFill>
              <a:srgbClr val="0EA5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" y="1417320"/>
            <a:ext cx="493776" cy="493776"/>
          </a:xfrm>
          <a:prstGeom prst="ellipse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6132" y="141732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D9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 s ∈ 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2395728"/>
            <a:ext cx="1746504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(demand_level, supply_level, time_period)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Demand: Low / Medium / High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Supply: Scarce / Normal / Abundant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Time: Off-Peak / Peak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18 total states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95728" y="1280160"/>
            <a:ext cx="1965960" cy="3200400"/>
          </a:xfrm>
          <a:prstGeom prst="rect">
            <a:avLst/>
          </a:prstGeom>
          <a:solidFill>
            <a:srgbClr val="1B2C41"/>
          </a:solidFill>
          <a:ln w="19050">
            <a:solidFill>
              <a:srgbClr val="0EA5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1820" y="1417320"/>
            <a:ext cx="493776" cy="493776"/>
          </a:xfrm>
          <a:prstGeom prst="ellipse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1820" y="141732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87168" y="1993392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D9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 a ∈ 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05456" y="2395728"/>
            <a:ext cx="1746504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Surge price multiplier: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1.0×  (base fare)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1.2×  (slight surge)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1.5×  (moderate surge)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2.0×  (peak surge)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71416" y="1280160"/>
            <a:ext cx="1965960" cy="3200400"/>
          </a:xfrm>
          <a:prstGeom prst="rect">
            <a:avLst/>
          </a:prstGeom>
          <a:solidFill>
            <a:srgbClr val="1B2C41"/>
          </a:solidFill>
          <a:ln w="19050">
            <a:solidFill>
              <a:srgbClr val="0EA5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07508" y="1417320"/>
            <a:ext cx="493776" cy="493776"/>
          </a:xfrm>
          <a:prstGeom prst="ellipse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7508" y="141732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62856" y="1993392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D9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Transition  T(s′|s,a)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81144" y="2395728"/>
            <a:ext cx="1746504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surge → attracts drivers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(supply improves), reduces ride demand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(price elasticity). Time alternates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between Off-Peak ↔ Peak stochastically.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47104" y="1280160"/>
            <a:ext cx="1965960" cy="3200400"/>
          </a:xfrm>
          <a:prstGeom prst="rect">
            <a:avLst/>
          </a:prstGeom>
          <a:solidFill>
            <a:srgbClr val="1B2C41"/>
          </a:solidFill>
          <a:ln w="19050">
            <a:solidFill>
              <a:srgbClr val="0EA5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83196" y="1417320"/>
            <a:ext cx="493776" cy="493776"/>
          </a:xfrm>
          <a:prstGeom prst="ellipse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83196" y="141732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38544" y="1993392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D9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Reward  R(s, a)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56832" y="2395728"/>
            <a:ext cx="1746504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= matched_rides × base_fare × surge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Base fare: $10 / ride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Unmet demand penalty: −$5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Discount factor γ = 0.95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B3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 iteration finds optimal surge pricing at each state to maximize expected discounted revenue.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Experimental Results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 Iteration — Converged in 3 iterations  |  γ = 0.95  |  18 states  |  4 actions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8288"/>
          </a:xfrm>
          <a:prstGeom prst="rect">
            <a:avLst/>
          </a:prstGeom>
          <a:solidFill>
            <a:srgbClr val="1B2C41"/>
          </a:solidFill>
          <a:ln w="12700">
            <a:solidFill>
              <a:srgbClr val="1B2C41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20040" y="1234440"/>
          <a:ext cx="50292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126187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D9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Optimal Surge Policy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577840" y="1664208"/>
          <a:ext cx="3291840" cy="2880360"/>
        </p:xfrm>
        <a:graphic>
          <a:graphicData uri="http://schemas.openxmlformats.org/drawingml/2006/table">
            <a:tbl>
              <a:tblPr/>
              <a:tblGrid>
                <a:gridCol w="2468880"/>
                <a:gridCol w="822960"/>
              </a:tblGrid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State (Demand, Supply, Time)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Surge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B0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Low, Normal, Peak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A261"/>
                          </a:solidFill>
                        </a:rPr>
                        <a:t>2.0×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Low, Abundant, Peak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A261"/>
                          </a:solidFill>
                        </a:rPr>
                        <a:t>2.0×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Medium, Scarce, Peak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A261"/>
                          </a:solidFill>
                        </a:rPr>
                        <a:t>2.0×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High, Normal, Peak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A261"/>
                          </a:solidFill>
                        </a:rPr>
                        <a:t>2.0×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Medium, Normal, Off-Peak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DD9E3"/>
                          </a:solidFill>
                        </a:rPr>
                        <a:t>1.5×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High, Normal, Off-Peak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DD9E3"/>
                          </a:solidFill>
                        </a:rPr>
                        <a:t>1.5×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Low, Scarce, Off-Peak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FB3C5"/>
                          </a:solidFill>
                        </a:rPr>
                        <a:t>1.0×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1B2C41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Key Insight:  Policy iteration converged in 3 iterations. Peak hours always warrant 2.0× surge. Off-peak prefers 1.5× to attract drivers while maintaining ride volume.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1226</Words>
  <Application>WPS 演示</Application>
  <PresentationFormat>On-screen Show (16:9)</PresentationFormat>
  <Paragraphs>84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Calibri</vt:lpstr>
      <vt:lpstr>Calibri</vt:lpstr>
      <vt:lpstr>Arial</vt:lpstr>
      <vt:lpstr>微软雅黑</vt:lpstr>
      <vt:lpstr>Arial Unicode MS</vt:lpstr>
      <vt:lpstr>等线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Ride-Sharing Matching &amp; Pricing MDP</dc:title>
  <dc:creator>PptxGenJS</dc:creator>
  <dc:subject>PptxGenJS Presentation</dc:subject>
  <cp:lastModifiedBy>时间</cp:lastModifiedBy>
  <cp:revision>2</cp:revision>
  <dcterms:created xsi:type="dcterms:W3CDTF">2026-03-06T22:10:00Z</dcterms:created>
  <dcterms:modified xsi:type="dcterms:W3CDTF">2026-03-09T06:02:38Z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F1A8C12DDC904334BFC34516A9052273_13</vt:lpwstr>
  </property>
  <property fmtid="{D5CDD505-2E9C-101B-9397-08002B2CF9AE}" pid="3" name="KSOProductBuildVer">
    <vt:lpwstr>2052-12.1.0.25225</vt:lpwstr>
  </property>
</Properties>
</file>